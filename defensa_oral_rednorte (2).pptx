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8" r:id="rId4"/>
    <p:sldId id="269" r:id="rId5"/>
    <p:sldId id="258" r:id="rId6"/>
    <p:sldId id="270" r:id="rId7"/>
    <p:sldId id="259" r:id="rId8"/>
    <p:sldId id="27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10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8FCD5-77B0-3139-92BD-D0630474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8F1F7-F49D-FF46-51DD-7F18D94E9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C8EF5-A51C-150F-DD93-A15EF96A8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A600E-5FA1-0E9D-3186-790BDEF6B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39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2113-1847-2942-84AE-3B6B191E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64620-3CBA-C335-60EA-D3E49959B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0BA65-6F2F-0B1E-71C8-3F85593FF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8B41A-A4B7-FCA2-2931-E0C850411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78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24B72-2459-E560-BE02-03A41C28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55552-79F0-15B1-4A4D-19BD6C433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389ED5-962E-8AA7-FA4E-44BDBED7C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B2D36-5AD6-9312-DE41-33F17B2F7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64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100" b="1" kern="0" spc="300" noProof="0" dirty="0">
                <a:solidFill>
                  <a:srgbClr val="0D9488"/>
                </a:solidFill>
              </a:rPr>
              <a:t>DEFENSA ORAL — EVALUACIÓN PARCIAL N°1</a:t>
            </a:r>
            <a:endParaRPr lang="es-CL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s-CL" sz="4200" b="1" noProof="0" dirty="0">
                <a:solidFill>
                  <a:srgbClr val="FFFFFF"/>
                </a:solidFill>
              </a:rPr>
              <a:t>Diseño de Arquitectura</a:t>
            </a:r>
            <a:endParaRPr lang="es-CL" sz="4200" noProof="0" dirty="0"/>
          </a:p>
          <a:p>
            <a:pPr marL="0" indent="0" algn="l">
              <a:buNone/>
            </a:pPr>
            <a:r>
              <a:rPr lang="es-CL" sz="4200" b="1" noProof="0" dirty="0">
                <a:solidFill>
                  <a:srgbClr val="FFFFFF"/>
                </a:solidFill>
              </a:rPr>
              <a:t>de Microservicios</a:t>
            </a:r>
            <a:endParaRPr lang="es-CL" sz="4200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800" noProof="0" dirty="0">
                <a:solidFill>
                  <a:srgbClr val="CCFBF1"/>
                </a:solidFill>
              </a:rPr>
              <a:t>Servicio Público de Salud RedNorte</a:t>
            </a:r>
            <a:endParaRPr lang="es-CL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A0B4C8"/>
                </a:solidFill>
              </a:rPr>
              <a:t>Dominique Cofre  |  Marco Parra  |  Héctor Peña  |  Luis Inostroza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07080"/>
                </a:solidFill>
              </a:rPr>
              <a:t>DSY1106  —  Abril 2026</a:t>
            </a:r>
            <a:endParaRPr lang="es-CL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6583680" y="731520"/>
            <a:ext cx="2560320" cy="36576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CCFBF1"/>
                </a:solidFill>
              </a:rPr>
              <a:t>4 INDICADORES</a:t>
            </a:r>
            <a:endParaRPr lang="es-CL" sz="1600" noProof="0" dirty="0"/>
          </a:p>
          <a:p>
            <a:pPr marL="0" indent="0" algn="ctr">
              <a:buNone/>
            </a:pPr>
            <a:r>
              <a:rPr lang="es-CL" sz="1600" b="1" noProof="0" dirty="0">
                <a:solidFill>
                  <a:srgbClr val="CCFBF1"/>
                </a:solidFill>
              </a:rPr>
              <a:t>DE DEFENSA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400" b="1" kern="0" spc="200" noProof="0" dirty="0">
                <a:solidFill>
                  <a:srgbClr val="FFFFFF"/>
                </a:solidFill>
              </a:rPr>
              <a:t>ESTRUCTURA DE LA DEFENSA</a:t>
            </a:r>
            <a:endParaRPr lang="es-CL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788523"/>
            <a:ext cx="8412480" cy="59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788523"/>
            <a:ext cx="73152" cy="59333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818999"/>
            <a:ext cx="502920" cy="37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0D9488"/>
                </a:solidFill>
              </a:rPr>
              <a:t>02</a:t>
            </a:r>
            <a:endParaRPr lang="es-CL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818909"/>
            <a:ext cx="7132320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0B1F3A"/>
                </a:solidFill>
              </a:rPr>
              <a:t>Patrones de arquitectura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097280" y="2065051"/>
            <a:ext cx="7132320" cy="18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4748B"/>
                </a:solidFill>
              </a:rPr>
              <a:t>Combinaciones, diagramas y utilidad en RedNorte</a:t>
            </a:r>
            <a:endParaRPr lang="es-CL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2645175"/>
            <a:ext cx="8412480" cy="59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2645175"/>
            <a:ext cx="73152" cy="59333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502920" y="2675651"/>
            <a:ext cx="502920" cy="37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7C3AED"/>
                </a:solidFill>
              </a:rPr>
              <a:t>03</a:t>
            </a:r>
            <a:endParaRPr lang="es-CL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1097280" y="2734513"/>
            <a:ext cx="7132320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0B1F3A"/>
                </a:solidFill>
              </a:rPr>
              <a:t>Escalabilidad</a:t>
            </a:r>
            <a:endParaRPr lang="es-CL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097280" y="2963619"/>
            <a:ext cx="7132320" cy="18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4748B"/>
                </a:solidFill>
              </a:rPr>
              <a:t>Crecimiento y adaptación de la arquitectura</a:t>
            </a:r>
            <a:endParaRPr lang="es-CL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3467612"/>
            <a:ext cx="8412480" cy="59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467612"/>
            <a:ext cx="73152" cy="59333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3498088"/>
            <a:ext cx="502920" cy="37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16A34A"/>
                </a:solidFill>
              </a:rPr>
              <a:t>04</a:t>
            </a:r>
            <a:endParaRPr lang="es-CL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1097280" y="3548520"/>
            <a:ext cx="7132320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0B1F3A"/>
                </a:solidFill>
              </a:rPr>
              <a:t>Sostenibilidad a largo plazo</a:t>
            </a:r>
            <a:endParaRPr lang="es-CL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1097280" y="3744140"/>
            <a:ext cx="7132320" cy="18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4748B"/>
                </a:solidFill>
              </a:rPr>
              <a:t>Impacto técnico, operativo y ambiental</a:t>
            </a:r>
            <a:endParaRPr lang="es-CL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4333099"/>
            <a:ext cx="8412480" cy="59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4333099"/>
            <a:ext cx="73152" cy="593331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502920" y="4363575"/>
            <a:ext cx="502920" cy="37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rgbClr val="F43F5E"/>
                </a:solidFill>
              </a:rPr>
              <a:t>05</a:t>
            </a:r>
            <a:endParaRPr lang="es-CL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1097280" y="4393870"/>
            <a:ext cx="7132320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0B1F3A"/>
                </a:solidFill>
              </a:rPr>
              <a:t>Evaluación ética y técnica</a:t>
            </a:r>
            <a:endParaRPr lang="es-C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1097280" y="4609627"/>
            <a:ext cx="7132320" cy="18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4748B"/>
                </a:solidFill>
              </a:rPr>
              <a:t>Responsabilidad y alineación con el cliente</a:t>
            </a:r>
            <a:endParaRPr lang="es-CL" sz="1200" noProof="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AA8D6B03-8367-E396-FD6B-924C8EEEB718}"/>
              </a:ext>
            </a:extLst>
          </p:cNvPr>
          <p:cNvSpPr/>
          <p:nvPr/>
        </p:nvSpPr>
        <p:spPr>
          <a:xfrm>
            <a:off x="365760" y="941695"/>
            <a:ext cx="8412480" cy="5933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E2955EB7-79CE-8D59-6F88-9EF6C1D6A94E}"/>
              </a:ext>
            </a:extLst>
          </p:cNvPr>
          <p:cNvSpPr/>
          <p:nvPr/>
        </p:nvSpPr>
        <p:spPr>
          <a:xfrm>
            <a:off x="365760" y="941695"/>
            <a:ext cx="73152" cy="59333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0857FF33-7CEA-A6C8-B574-4776C8CB92AF}"/>
              </a:ext>
            </a:extLst>
          </p:cNvPr>
          <p:cNvSpPr/>
          <p:nvPr/>
        </p:nvSpPr>
        <p:spPr>
          <a:xfrm>
            <a:off x="502920" y="972171"/>
            <a:ext cx="502920" cy="37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200" b="1" noProof="0" dirty="0">
                <a:solidFill>
                  <a:schemeClr val="accent2"/>
                </a:solidFill>
              </a:rPr>
              <a:t>01</a:t>
            </a:r>
            <a:endParaRPr lang="es-CL" sz="2200" noProof="0" dirty="0">
              <a:solidFill>
                <a:schemeClr val="accent2"/>
              </a:solidFill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684F69C-57A3-9D45-2213-1EC6A44DD4A9}"/>
              </a:ext>
            </a:extLst>
          </p:cNvPr>
          <p:cNvSpPr/>
          <p:nvPr/>
        </p:nvSpPr>
        <p:spPr>
          <a:xfrm>
            <a:off x="1097280" y="995792"/>
            <a:ext cx="7132320" cy="215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0B1F3A"/>
                </a:solidFill>
              </a:rPr>
              <a:t>Contexto Caso RedNorte </a:t>
            </a:r>
            <a:endParaRPr lang="es-CL" sz="1600" noProof="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76438499-08B4-314D-51C8-CC7EFDCFF28F}"/>
              </a:ext>
            </a:extLst>
          </p:cNvPr>
          <p:cNvSpPr/>
          <p:nvPr/>
        </p:nvSpPr>
        <p:spPr>
          <a:xfrm>
            <a:off x="1097280" y="1218223"/>
            <a:ext cx="7132320" cy="188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4748B"/>
                </a:solidFill>
              </a:rPr>
              <a:t> La institución, el problema y por qué microservicios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Contexto: Servicio Público de Salud RedNorte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3200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64008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2E7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Institución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2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salud pública en la zona norte del país:</a:t>
            </a:r>
            <a:endParaRPr lang="es-CL" sz="1200" noProof="0" dirty="0"/>
          </a:p>
          <a:p>
            <a:pPr marL="0" indent="0">
              <a:buNone/>
            </a:pPr>
            <a:endParaRPr lang="es-CL" sz="1200" noProof="0" dirty="0"/>
          </a:p>
          <a:p>
            <a:pPr marL="342900" indent="-342900">
              <a:buSzPct val="100000"/>
              <a:buChar char="•"/>
            </a:pPr>
            <a:r>
              <a:rPr lang="es-C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Hospital de alta complejidad</a:t>
            </a:r>
            <a:endParaRPr lang="es-CL" sz="1200" noProof="0" dirty="0"/>
          </a:p>
          <a:p>
            <a:pPr marL="342900" indent="-342900">
              <a:buSzPct val="100000"/>
              <a:buChar char="•"/>
            </a:pPr>
            <a:r>
              <a:rPr lang="es-C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Hospitales comunitarios</a:t>
            </a:r>
            <a:endParaRPr lang="es-CL" sz="1200" noProof="0" dirty="0"/>
          </a:p>
          <a:p>
            <a:pPr marL="342900" indent="-342900">
              <a:buSzPct val="100000"/>
              <a:buChar char="•"/>
            </a:pPr>
            <a:r>
              <a:rPr lang="es-C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Centros de atención primaria</a:t>
            </a:r>
            <a:endParaRPr lang="es-CL" sz="1200" noProof="0" dirty="0"/>
          </a:p>
          <a:p>
            <a:pPr marL="342900" indent="-342900">
              <a:buSzPct val="100000"/>
              <a:buChar char="•"/>
            </a:pPr>
            <a:r>
              <a:rPr lang="es-C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+2.800 funcionarios</a:t>
            </a:r>
            <a:endParaRPr lang="es-CL" sz="1200" noProof="0" dirty="0"/>
          </a:p>
          <a:p>
            <a:pPr marL="0" indent="0">
              <a:buNone/>
            </a:pPr>
            <a:endParaRPr lang="es-CL" sz="1200" noProof="0" dirty="0"/>
          </a:p>
          <a:p>
            <a:pPr marL="0" indent="0">
              <a:buNone/>
            </a:pPr>
            <a:r>
              <a:rPr lang="es-CL" sz="1100" b="1" noProof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 </a:t>
            </a:r>
            <a:r>
              <a:rPr lang="es-CL" sz="11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acceso oportuno, equitativo y de calidad a la atención de salud.</a:t>
            </a:r>
            <a:endParaRPr lang="es-CL" sz="1200" noProof="0" dirty="0"/>
          </a:p>
          <a:p>
            <a:pPr marL="0" indent="0">
              <a:buNone/>
            </a:pPr>
            <a:endParaRPr lang="es-CL" sz="1200" noProof="0" dirty="0"/>
          </a:p>
          <a:p>
            <a:pPr marL="0" indent="0">
              <a:buNone/>
            </a:pPr>
            <a:r>
              <a:rPr lang="es-CL" sz="1100" b="1" noProof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</a:t>
            </a:r>
            <a:r>
              <a:rPr lang="es-CL" sz="11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salud moderna y eficiente que utilice tecnología para reducir tiempos de espera.</a:t>
            </a:r>
            <a:endParaRPr lang="es-CL" sz="1200" noProof="0" dirty="0"/>
          </a:p>
          <a:p>
            <a:pPr marL="0" indent="0">
              <a:buNone/>
            </a:pPr>
            <a:endParaRPr lang="es-CL" sz="1200" noProof="0" dirty="0"/>
          </a:p>
          <a:p>
            <a:pPr marL="0" indent="0">
              <a:buNone/>
            </a:pPr>
            <a:r>
              <a:rPr lang="es-CL" sz="1100" b="1" noProof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actuales: </a:t>
            </a:r>
            <a:r>
              <a:rPr lang="es-CL" sz="11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independientes por centro, gestión manual con planillas, sin integración entre hospitales ni centros primarios y sistemas que no se comunican entre si.</a:t>
            </a:r>
            <a:endParaRPr lang="es-CL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6400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Problemas en cifras </a:t>
            </a:r>
            <a:endParaRPr lang="es-CL" sz="1600" noProof="0" dirty="0"/>
          </a:p>
        </p:txBody>
      </p:sp>
      <p:sp>
        <p:nvSpPr>
          <p:cNvPr id="12" name="Shape 10"/>
          <p:cNvSpPr/>
          <p:nvPr/>
        </p:nvSpPr>
        <p:spPr>
          <a:xfrm>
            <a:off x="4892040" y="1645920"/>
            <a:ext cx="3749040" cy="6858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4983480" y="16642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noProof="0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42.000</a:t>
            </a:r>
            <a:endParaRPr lang="es-CL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983480" y="1901952"/>
            <a:ext cx="15868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 lista de espera</a:t>
            </a:r>
          </a:p>
        </p:txBody>
      </p:sp>
      <p:sp>
        <p:nvSpPr>
          <p:cNvPr id="15" name="Shape 13"/>
          <p:cNvSpPr/>
          <p:nvPr/>
        </p:nvSpPr>
        <p:spPr>
          <a:xfrm>
            <a:off x="4892040" y="2468880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498348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b="1" noProof="0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18+</a:t>
            </a:r>
            <a:endParaRPr lang="es-CL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983480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espera en especialidades</a:t>
            </a:r>
          </a:p>
        </p:txBody>
      </p:sp>
      <p:sp>
        <p:nvSpPr>
          <p:cNvPr id="18" name="Shape 16"/>
          <p:cNvSpPr/>
          <p:nvPr/>
        </p:nvSpPr>
        <p:spPr>
          <a:xfrm>
            <a:off x="4892040" y="3291840"/>
            <a:ext cx="3749040" cy="6858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4983480" y="33101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12-18%</a:t>
            </a:r>
          </a:p>
        </p:txBody>
      </p:sp>
      <p:sp>
        <p:nvSpPr>
          <p:cNvPr id="20" name="Text 18"/>
          <p:cNvSpPr/>
          <p:nvPr/>
        </p:nvSpPr>
        <p:spPr>
          <a:xfrm>
            <a:off x="4983480" y="3547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canceladas sin reasignar</a:t>
            </a:r>
          </a:p>
        </p:txBody>
      </p:sp>
      <p:sp>
        <p:nvSpPr>
          <p:cNvPr id="21" name="Shape 19"/>
          <p:cNvSpPr/>
          <p:nvPr/>
        </p:nvSpPr>
        <p:spPr>
          <a:xfrm>
            <a:off x="4892040" y="4114800"/>
            <a:ext cx="374904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498348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00" b="1" noProof="0" dirty="0">
                <a:solidFill>
                  <a:srgbClr val="006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</a:p>
        </p:txBody>
      </p:sp>
      <p:sp>
        <p:nvSpPr>
          <p:cNvPr id="23" name="Text 21"/>
          <p:cNvSpPr/>
          <p:nvPr/>
        </p:nvSpPr>
        <p:spPr>
          <a:xfrm>
            <a:off x="4983480" y="4370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0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sin información de su estado en la lista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E514AC6C-1C19-619E-46F6-640385CE5810}"/>
              </a:ext>
            </a:extLst>
          </p:cNvPr>
          <p:cNvSpPr/>
          <p:nvPr/>
        </p:nvSpPr>
        <p:spPr>
          <a:xfrm>
            <a:off x="274320" y="778693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chemeClr val="accent2">
                    <a:lumMod val="75000"/>
                  </a:schemeClr>
                </a:solidFill>
              </a:rPr>
              <a:t>INDICADOR 01</a:t>
            </a:r>
            <a:endParaRPr lang="es-CL" sz="11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003D-F4D1-E952-37E0-39063250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C2E014-BA16-713A-CCED-144F57DA352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245BE5-C645-2713-2159-FA25E062B65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¿Por qué microservicios y no un sistema monolítico?</a:t>
            </a:r>
            <a:endParaRPr lang="es-CL" sz="22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A6E632-E3AE-ED81-6E13-8A85A2D95871}"/>
              </a:ext>
            </a:extLst>
          </p:cNvPr>
          <p:cNvSpPr/>
          <p:nvPr/>
        </p:nvSpPr>
        <p:spPr>
          <a:xfrm>
            <a:off x="201168" y="1846545"/>
            <a:ext cx="4023360" cy="353757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C80F20-930D-1F36-85D8-F87BD07B757F}"/>
              </a:ext>
            </a:extLst>
          </p:cNvPr>
          <p:cNvSpPr/>
          <p:nvPr/>
        </p:nvSpPr>
        <p:spPr>
          <a:xfrm>
            <a:off x="201168" y="1846545"/>
            <a:ext cx="4023360" cy="35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Monolito</a:t>
            </a:r>
            <a:endParaRPr lang="es-CL" sz="1400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BBC2698-8830-BFA4-92B5-68EA0D2B7B87}"/>
              </a:ext>
            </a:extLst>
          </p:cNvPr>
          <p:cNvSpPr/>
          <p:nvPr/>
        </p:nvSpPr>
        <p:spPr>
          <a:xfrm>
            <a:off x="4773168" y="1846545"/>
            <a:ext cx="4023360" cy="353757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1008A9-D455-07FF-4452-6D6DA52EFEA4}"/>
              </a:ext>
            </a:extLst>
          </p:cNvPr>
          <p:cNvSpPr/>
          <p:nvPr/>
        </p:nvSpPr>
        <p:spPr>
          <a:xfrm>
            <a:off x="4773168" y="1846545"/>
            <a:ext cx="4023360" cy="35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Microservicios</a:t>
            </a:r>
            <a:endParaRPr lang="es-CL" sz="14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B550E4-5888-4034-EF72-775C2C902576}"/>
              </a:ext>
            </a:extLst>
          </p:cNvPr>
          <p:cNvSpPr/>
          <p:nvPr/>
        </p:nvSpPr>
        <p:spPr>
          <a:xfrm>
            <a:off x="4937760" y="1760220"/>
            <a:ext cx="3840480" cy="290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s-CL" sz="1200" noProof="0" dirty="0">
              <a:solidFill>
                <a:srgbClr val="00B050"/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822955-7376-5663-AC92-8484994F84C1}"/>
              </a:ext>
            </a:extLst>
          </p:cNvPr>
          <p:cNvSpPr/>
          <p:nvPr/>
        </p:nvSpPr>
        <p:spPr>
          <a:xfrm>
            <a:off x="4261104" y="2863404"/>
            <a:ext cx="457200" cy="393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7030A0"/>
                </a:solidFill>
              </a:rPr>
              <a:t>VS</a:t>
            </a:r>
            <a:endParaRPr lang="es-CL" sz="2000" noProof="0" dirty="0">
              <a:solidFill>
                <a:srgbClr val="7030A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756EDF-3D51-D27D-79A5-9CAFCBF1724F}"/>
              </a:ext>
            </a:extLst>
          </p:cNvPr>
          <p:cNvSpPr txBox="1"/>
          <p:nvPr/>
        </p:nvSpPr>
        <p:spPr>
          <a:xfrm>
            <a:off x="113906" y="1200671"/>
            <a:ext cx="8916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L" sz="1400" b="1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RedNorte tiene partes que cambian a velocidades distintas y necesitan crecer de forma independiente.</a:t>
            </a:r>
            <a:endParaRPr lang="es-CL" sz="1400" noProof="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F28A7A8-CE95-B44E-03D3-6B16D2A6A0F6}"/>
              </a:ext>
            </a:extLst>
          </p:cNvPr>
          <p:cNvSpPr txBox="1"/>
          <p:nvPr/>
        </p:nvSpPr>
        <p:spPr>
          <a:xfrm>
            <a:off x="581340" y="2385918"/>
            <a:ext cx="29188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noProof="0" dirty="0">
                <a:solidFill>
                  <a:srgbClr val="C00000"/>
                </a:solidFill>
              </a:rPr>
              <a:t>Cambiar una parte arriesga romper el resto.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noProof="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noProof="0" dirty="0">
                <a:solidFill>
                  <a:srgbClr val="C00000"/>
                </a:solidFill>
              </a:rPr>
              <a:t>Todo escala junto, aunque solo falle una cosa.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noProof="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noProof="0" dirty="0">
                <a:solidFill>
                  <a:srgbClr val="C00000"/>
                </a:solidFill>
              </a:rPr>
              <a:t>Si cae el sistema, cae todo.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L" sz="1200" noProof="0" dirty="0">
              <a:solidFill>
                <a:srgbClr val="C0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noProof="0" dirty="0">
                <a:solidFill>
                  <a:srgbClr val="C00000"/>
                </a:solidFill>
              </a:rPr>
              <a:t>Difícil de mantener cuando crece.</a:t>
            </a:r>
          </a:p>
          <a:p>
            <a:endParaRPr lang="es-CL" sz="1200" noProof="0" dirty="0">
              <a:solidFill>
                <a:srgbClr val="C0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E52B61D-BB63-8899-0C06-A944A084AEDB}"/>
              </a:ext>
            </a:extLst>
          </p:cNvPr>
          <p:cNvSpPr txBox="1"/>
          <p:nvPr/>
        </p:nvSpPr>
        <p:spPr>
          <a:xfrm>
            <a:off x="4937760" y="2385918"/>
            <a:ext cx="3624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B050"/>
                </a:solidFill>
              </a:rPr>
              <a:t>Cada parte evoluciona y escala sola.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rgbClr val="00B05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B050"/>
                </a:solidFill>
              </a:rPr>
              <a:t>Si cae MS Notificaciones, la lista sigue funcionando.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rgbClr val="00B05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B050"/>
                </a:solidFill>
              </a:rPr>
              <a:t>En horas pico solo escala MS Reasignación.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200" dirty="0">
              <a:solidFill>
                <a:srgbClr val="00B05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00B050"/>
                </a:solidFill>
              </a:rPr>
              <a:t>Equipos distintos mantienen partes distintas.</a:t>
            </a:r>
          </a:p>
          <a:p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166683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0D9488"/>
                </a:solidFill>
              </a:rPr>
              <a:t>INDICADOR 02</a:t>
            </a:r>
            <a:endParaRPr lang="es-CL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Patrones de Arquitectura</a:t>
            </a:r>
            <a:endParaRPr lang="es-CL" sz="3800" noProof="0" dirty="0"/>
          </a:p>
          <a:p>
            <a:pPr marL="0" indent="0" algn="l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Seleccionados</a:t>
            </a:r>
            <a:endParaRPr lang="es-CL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rgbClr val="CCFBF1"/>
                </a:solidFill>
              </a:rPr>
              <a:t>Combinaciones, diagramas y utilidad en el contexto de RedNorte</a:t>
            </a:r>
            <a:endParaRPr lang="es-CL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3017520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Arquitectura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Hexagonal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2121408" y="3017520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2121408" y="306324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FFFFF"/>
                </a:solidFill>
              </a:rPr>
              <a:t>Repository</a:t>
            </a:r>
            <a:r>
              <a:rPr lang="es-CL" sz="1300" b="1" noProof="0" dirty="0">
                <a:solidFill>
                  <a:srgbClr val="FFFFFF"/>
                </a:solidFill>
              </a:rPr>
              <a:t> +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Factory </a:t>
            </a:r>
            <a:r>
              <a:rPr lang="es-CL" sz="1300" b="1" noProof="0" dirty="0" err="1">
                <a:solidFill>
                  <a:srgbClr val="FFFFFF"/>
                </a:solidFill>
              </a:rPr>
              <a:t>Method</a:t>
            </a:r>
            <a:endParaRPr lang="es-CL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3877056" y="3017520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877056" y="306324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FFFFF"/>
                </a:solidFill>
              </a:rPr>
              <a:t>Event-Driven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+ Kafka</a:t>
            </a:r>
            <a:endParaRPr lang="es-CL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5632704" y="3017520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5632704" y="306324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FFFFF"/>
                </a:solidFill>
              </a:rPr>
              <a:t>Circuit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Breaker</a:t>
            </a:r>
            <a:endParaRPr lang="es-CL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7388352" y="3017520"/>
            <a:ext cx="1600200" cy="1645920"/>
          </a:xfrm>
          <a:prstGeom prst="roundRect">
            <a:avLst>
              <a:gd name="adj" fmla="val 5714"/>
            </a:avLst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7388352" y="3063240"/>
            <a:ext cx="1600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API Gateway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+ BFF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BB50-869C-5162-AB57-E5F698A7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B70B9E-6079-3A0F-1938-8C37A4F46DA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E64EE4-871B-200D-DA23-6E2C87247726}"/>
              </a:ext>
            </a:extLst>
          </p:cNvPr>
          <p:cNvSpPr/>
          <p:nvPr/>
        </p:nvSpPr>
        <p:spPr>
          <a:xfrm>
            <a:off x="199835" y="1343139"/>
            <a:ext cx="3669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chemeClr val="accent1">
                    <a:lumMod val="75000"/>
                  </a:schemeClr>
                </a:solidFill>
              </a:rPr>
              <a:t>Combinaciones, diagramas y utilidad en el contexto de RedNorte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37319AD-BBB4-2825-9A4F-C3F0A31AF070}"/>
              </a:ext>
            </a:extLst>
          </p:cNvPr>
          <p:cNvSpPr txBox="1"/>
          <p:nvPr/>
        </p:nvSpPr>
        <p:spPr>
          <a:xfrm>
            <a:off x="179852" y="841006"/>
            <a:ext cx="4578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s-CL" sz="2000" b="1" noProof="0" dirty="0">
                <a:solidFill>
                  <a:schemeClr val="accent1">
                    <a:lumMod val="75000"/>
                  </a:schemeClr>
                </a:solidFill>
              </a:rPr>
              <a:t>Diagrama de Patrones de Arquitectura</a:t>
            </a:r>
            <a:endParaRPr lang="es-CL" sz="20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4D8D600-8186-A45E-911B-DCBAED407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8600"/>
            <a:ext cx="4317665" cy="486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2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Cómo se combinan los patrones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Puerto entrada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REST recibe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la cancelación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2926080" y="170992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20040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Factory </a:t>
            </a:r>
            <a:r>
              <a:rPr lang="es-CL" sz="1300" b="1" noProof="0" dirty="0" err="1">
                <a:solidFill>
                  <a:srgbClr val="FFFFFF"/>
                </a:solidFill>
              </a:rPr>
              <a:t>Method</a:t>
            </a:r>
            <a:endParaRPr lang="es-CL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3200400" y="13441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Identifica tipo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CIRUGIA</a:t>
            </a:r>
            <a:endParaRPr lang="es-CL" sz="1300" noProof="0" dirty="0"/>
          </a:p>
        </p:txBody>
      </p:sp>
      <p:sp>
        <p:nvSpPr>
          <p:cNvPr id="13" name="Shape 11"/>
          <p:cNvSpPr/>
          <p:nvPr/>
        </p:nvSpPr>
        <p:spPr>
          <a:xfrm>
            <a:off x="5852160" y="170992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612648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FFFFF"/>
                </a:solidFill>
              </a:rPr>
              <a:t>Repository</a:t>
            </a:r>
            <a:endParaRPr lang="es-CL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6126480" y="13441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Actualiza estado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en PostgreSQL</a:t>
            </a:r>
            <a:endParaRPr lang="es-CL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/>
          <p:nvPr/>
        </p:nvSpPr>
        <p:spPr>
          <a:xfrm>
            <a:off x="27432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Kafka publica</a:t>
            </a:r>
            <a:endParaRPr lang="es-CL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274320" y="31272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 err="1">
                <a:solidFill>
                  <a:srgbClr val="0B1F3A"/>
                </a:solidFill>
              </a:rPr>
              <a:t>CupoLiberado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al bus</a:t>
            </a:r>
            <a:endParaRPr lang="es-CL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2926080" y="349300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Shape 21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65176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320040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 err="1">
                <a:solidFill>
                  <a:srgbClr val="FFFFFF"/>
                </a:solidFill>
              </a:rPr>
              <a:t>Circuit</a:t>
            </a:r>
            <a:r>
              <a:rPr lang="es-CL" sz="1300" b="1" noProof="0" dirty="0">
                <a:solidFill>
                  <a:srgbClr val="FFFFFF"/>
                </a:solidFill>
              </a:rPr>
              <a:t> Breaker</a:t>
            </a:r>
            <a:endParaRPr lang="es-CL" sz="1300" noProof="0" dirty="0"/>
          </a:p>
        </p:txBody>
      </p:sp>
      <p:sp>
        <p:nvSpPr>
          <p:cNvPr id="26" name="Text 24"/>
          <p:cNvSpPr/>
          <p:nvPr/>
        </p:nvSpPr>
        <p:spPr>
          <a:xfrm>
            <a:off x="3200400" y="31272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Protege llamada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al hospital</a:t>
            </a:r>
            <a:endParaRPr lang="es-CL" sz="1300" noProof="0" dirty="0"/>
          </a:p>
        </p:txBody>
      </p:sp>
      <p:sp>
        <p:nvSpPr>
          <p:cNvPr id="27" name="Shape 25"/>
          <p:cNvSpPr/>
          <p:nvPr/>
        </p:nvSpPr>
        <p:spPr>
          <a:xfrm>
            <a:off x="5852160" y="3493008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2651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65176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/>
          <p:nvPr/>
        </p:nvSpPr>
        <p:spPr>
          <a:xfrm>
            <a:off x="612648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300" b="1" noProof="0" dirty="0">
                <a:solidFill>
                  <a:srgbClr val="FFFFFF"/>
                </a:solidFill>
              </a:rPr>
              <a:t>Notificaciones</a:t>
            </a:r>
            <a:endParaRPr lang="es-CL" sz="1300" noProof="0" dirty="0"/>
          </a:p>
        </p:txBody>
      </p:sp>
      <p:sp>
        <p:nvSpPr>
          <p:cNvPr id="31" name="Text 29"/>
          <p:cNvSpPr/>
          <p:nvPr/>
        </p:nvSpPr>
        <p:spPr>
          <a:xfrm>
            <a:off x="6126480" y="312724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SMS al siguiente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0B1F3A"/>
                </a:solidFill>
              </a:rPr>
              <a:t>paciente</a:t>
            </a:r>
            <a:endParaRPr lang="es-CL" sz="1300" noProof="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200" b="1" i="1" noProof="0" dirty="0">
                <a:solidFill>
                  <a:srgbClr val="0D9488"/>
                </a:solidFill>
              </a:rPr>
              <a:t>Resultado: cupo reasignado en menos de 30 segundos vs. días del proceso manual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FB62F-0968-CFDC-D1D6-C34B3127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88E043-A722-5141-004E-A7C9175DE8F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AE24BB-69E5-1A4A-F3F4-7723A05CA902}"/>
              </a:ext>
            </a:extLst>
          </p:cNvPr>
          <p:cNvSpPr/>
          <p:nvPr/>
        </p:nvSpPr>
        <p:spPr>
          <a:xfrm>
            <a:off x="199835" y="1343139"/>
            <a:ext cx="3669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chemeClr val="accent1">
                    <a:lumMod val="75000"/>
                  </a:schemeClr>
                </a:solidFill>
              </a:rPr>
              <a:t>Combinaciones, diagramas y utilidad en el contexto de RedNorte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5C665A-F2E9-E98C-DC74-B996A2542C29}"/>
              </a:ext>
            </a:extLst>
          </p:cNvPr>
          <p:cNvSpPr txBox="1"/>
          <p:nvPr/>
        </p:nvSpPr>
        <p:spPr>
          <a:xfrm>
            <a:off x="179852" y="841006"/>
            <a:ext cx="4578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s-CL" sz="2000" b="1" noProof="0" dirty="0">
                <a:solidFill>
                  <a:schemeClr val="accent1">
                    <a:lumMod val="75000"/>
                  </a:schemeClr>
                </a:solidFill>
              </a:rPr>
              <a:t>Diagrama Arquitectura de flujo</a:t>
            </a:r>
            <a:endParaRPr lang="es-CL" sz="2000" noProof="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7EB66AE-BD75-499D-976D-3C7ED536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490" y="126084"/>
            <a:ext cx="4516832" cy="489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1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Utilidad de cada patrón en RedNorte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5097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>
                <a:solidFill>
                  <a:srgbClr val="0D9488"/>
                </a:solidFill>
              </a:rPr>
              <a:t>Hexagonal</a:t>
            </a:r>
            <a:endParaRPr lang="es-CL" sz="1300" noProof="0" dirty="0"/>
          </a:p>
        </p:txBody>
      </p:sp>
      <p:sp>
        <p:nvSpPr>
          <p:cNvPr id="7" name="Text 5"/>
          <p:cNvSpPr/>
          <p:nvPr/>
        </p:nvSpPr>
        <p:spPr>
          <a:xfrm>
            <a:off x="2468880" y="950976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Cambiar HL7 por FHIR sin tocar lógica clínica</a:t>
            </a:r>
            <a:endParaRPr lang="es-CL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>
                <a:solidFill>
                  <a:srgbClr val="7C3AED"/>
                </a:solidFill>
              </a:rPr>
              <a:t>Factory </a:t>
            </a:r>
            <a:r>
              <a:rPr lang="es-CL" sz="1300" b="1" noProof="0" dirty="0" err="1">
                <a:solidFill>
                  <a:srgbClr val="7C3AED"/>
                </a:solidFill>
              </a:rPr>
              <a:t>Method</a:t>
            </a:r>
            <a:endParaRPr lang="es-CL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2468880" y="1618488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Crea fichas con reglas distintas por tipo de atención: cirugía, consulta, urgencia</a:t>
            </a:r>
            <a:endParaRPr lang="es-CL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224942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 err="1">
                <a:solidFill>
                  <a:srgbClr val="7C3AED"/>
                </a:solidFill>
              </a:rPr>
              <a:t>Repository</a:t>
            </a:r>
            <a:endParaRPr lang="es-CL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Guarda, busca y actualiza fichas en PostgreSQL sin que el dominio sepa de SQL</a:t>
            </a:r>
            <a:endParaRPr lang="es-CL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Text 16"/>
          <p:cNvSpPr/>
          <p:nvPr/>
        </p:nvSpPr>
        <p:spPr>
          <a:xfrm>
            <a:off x="457200" y="29535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 err="1">
                <a:solidFill>
                  <a:srgbClr val="F59E0B"/>
                </a:solidFill>
              </a:rPr>
              <a:t>Event-Driven</a:t>
            </a:r>
            <a:r>
              <a:rPr lang="es-CL" sz="1300" b="1" noProof="0" dirty="0">
                <a:solidFill>
                  <a:srgbClr val="F59E0B"/>
                </a:solidFill>
              </a:rPr>
              <a:t> + Kafka</a:t>
            </a:r>
            <a:endParaRPr lang="es-CL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2468880" y="2953512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 err="1">
                <a:solidFill>
                  <a:srgbClr val="0B1F3A"/>
                </a:solidFill>
              </a:rPr>
              <a:t>CupoLiberado</a:t>
            </a:r>
            <a:r>
              <a:rPr lang="es-CL" sz="1200" noProof="0" dirty="0">
                <a:solidFill>
                  <a:srgbClr val="0B1F3A"/>
                </a:solidFill>
              </a:rPr>
              <a:t> notifica al siguiente paciente en &lt;30s sin acoplar los MS</a:t>
            </a:r>
            <a:endParaRPr lang="es-CL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362102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 err="1">
                <a:solidFill>
                  <a:srgbClr val="F43F5E"/>
                </a:solidFill>
              </a:rPr>
              <a:t>Circuit</a:t>
            </a:r>
            <a:r>
              <a:rPr lang="es-CL" sz="1300" b="1" noProof="0" dirty="0">
                <a:solidFill>
                  <a:srgbClr val="F43F5E"/>
                </a:solidFill>
              </a:rPr>
              <a:t> Breaker</a:t>
            </a:r>
            <a:endParaRPr lang="es-CL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2468880" y="3621024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Si el hospital legado falla 5 veces, corta la conexión y devuelve respuesta alternativa</a:t>
            </a:r>
            <a:endParaRPr lang="es-CL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4251960"/>
            <a:ext cx="64008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457200" y="428853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300" b="1" noProof="0" dirty="0">
                <a:solidFill>
                  <a:srgbClr val="16A34A"/>
                </a:solidFill>
              </a:rPr>
              <a:t>API Gateway + BFF</a:t>
            </a:r>
            <a:endParaRPr lang="es-CL" sz="1300" noProof="0" dirty="0"/>
          </a:p>
        </p:txBody>
      </p:sp>
      <p:sp>
        <p:nvSpPr>
          <p:cNvPr id="27" name="Text 25"/>
          <p:cNvSpPr/>
          <p:nvPr/>
        </p:nvSpPr>
        <p:spPr>
          <a:xfrm>
            <a:off x="2468880" y="4288536"/>
            <a:ext cx="6217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Gateway valida y rutea. BFF junta múltiples respuestas en una sola para el </a:t>
            </a:r>
            <a:r>
              <a:rPr lang="es-CL" sz="1200" noProof="0" dirty="0" err="1">
                <a:solidFill>
                  <a:srgbClr val="0B1F3A"/>
                </a:solidFill>
              </a:rPr>
              <a:t>frontend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7C3AED"/>
                </a:solidFill>
              </a:rPr>
              <a:t>INDICADOR 03</a:t>
            </a:r>
            <a:endParaRPr lang="es-CL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Escalabilidad del Sistema</a:t>
            </a:r>
            <a:endParaRPr lang="es-CL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rgbClr val="C4B5FD"/>
                </a:solidFill>
              </a:rPr>
              <a:t>Capacidad de crecimiento y adaptación de la arquitectura</a:t>
            </a:r>
            <a:endParaRPr lang="es-CL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560320" cy="21031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7C3AED"/>
                </a:solidFill>
              </a:rPr>
              <a:t>2→6</a:t>
            </a:r>
            <a:endParaRPr lang="es-CL" sz="36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réplicas en hora pico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(</a:t>
            </a:r>
            <a:r>
              <a:rPr lang="es-CL" sz="1300" noProof="0" dirty="0" err="1">
                <a:solidFill>
                  <a:srgbClr val="FFFFFF"/>
                </a:solidFill>
              </a:rPr>
              <a:t>Kubernetes</a:t>
            </a:r>
            <a:r>
              <a:rPr lang="es-CL" sz="1300" noProof="0" dirty="0">
                <a:solidFill>
                  <a:srgbClr val="FFFFFF"/>
                </a:solidFill>
              </a:rPr>
              <a:t> HPA)</a:t>
            </a:r>
            <a:endParaRPr lang="es-CL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3291840" y="2651760"/>
            <a:ext cx="2560320" cy="210312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291840" y="2788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0D9488"/>
                </a:solidFill>
              </a:rPr>
              <a:t>&lt;200ms</a:t>
            </a:r>
            <a:endParaRPr lang="es-CL" sz="360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tiempo de respuesta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bajo demanda alta</a:t>
            </a:r>
            <a:endParaRPr lang="es-CL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2560320" cy="21031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2788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3600" b="1" noProof="0" dirty="0">
                <a:solidFill>
                  <a:srgbClr val="F59E0B"/>
                </a:solidFill>
              </a:rPr>
              <a:t>∞</a:t>
            </a:r>
            <a:endParaRPr lang="es-CL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nuevos centros sin</a:t>
            </a:r>
            <a:endParaRPr lang="es-CL" sz="1300" noProof="0" dirty="0"/>
          </a:p>
          <a:p>
            <a:pPr marL="0" indent="0" algn="ctr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rediseño arquitectónico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Cómo escala la arquitectura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2791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 err="1">
                <a:solidFill>
                  <a:srgbClr val="FFFFFF"/>
                </a:solidFill>
              </a:rPr>
              <a:t>Kubernetes</a:t>
            </a:r>
            <a:r>
              <a:rPr lang="es-CL" sz="1400" b="1" noProof="0" dirty="0">
                <a:solidFill>
                  <a:srgbClr val="FFFFFF"/>
                </a:solidFill>
              </a:rPr>
              <a:t> HPA</a:t>
            </a:r>
            <a:endParaRPr lang="es-CL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Lunes 8-10 AM: alta demanda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MS Reasignación: 2 → 6 réplicas automático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Sin intervención manual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Respuesta siempre bajo 200ms</a:t>
            </a:r>
            <a:endParaRPr lang="es-CL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97480" cy="2791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20040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 err="1">
                <a:solidFill>
                  <a:srgbClr val="FFFFFF"/>
                </a:solidFill>
              </a:rPr>
              <a:t>Database</a:t>
            </a:r>
            <a:r>
              <a:rPr lang="es-CL" sz="1400" b="1" noProof="0" dirty="0">
                <a:solidFill>
                  <a:srgbClr val="FFFFFF"/>
                </a:solidFill>
              </a:rPr>
              <a:t> per Service</a:t>
            </a:r>
            <a:endParaRPr lang="es-CL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Cada MS tiene su propio PostgreSQL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42.000 → 100.000 registros: solo escala esa BD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No afecta a MS Reasignación ni Notificaciones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Desacoplamiento total</a:t>
            </a:r>
            <a:endParaRPr lang="es-CL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97480" cy="279164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914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Apache Kafka</a:t>
            </a:r>
            <a:endParaRPr lang="es-CL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Maneja millones de eventos por segundo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5 nuevos centros: solo agregar productores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Sin cambio arquitectónico</a:t>
            </a:r>
            <a:endParaRPr lang="es-CL" sz="1200" noProof="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s-CL" sz="1200" noProof="0" dirty="0">
                <a:solidFill>
                  <a:srgbClr val="0B1F3A"/>
                </a:solidFill>
              </a:rPr>
              <a:t>Escalado horizontal nativo</a:t>
            </a:r>
            <a:endParaRPr lang="es-CL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100" i="1" noProof="0" dirty="0">
                <a:solidFill>
                  <a:srgbClr val="64748B"/>
                </a:solidFill>
              </a:rPr>
              <a:t>Escenario concreto: si el Ministerio replica la solución en otra región, solo se agregan instancias en </a:t>
            </a:r>
            <a:r>
              <a:rPr lang="es-CL" sz="1100" i="1" noProof="0" dirty="0" err="1">
                <a:solidFill>
                  <a:srgbClr val="64748B"/>
                </a:solidFill>
              </a:rPr>
              <a:t>Kubernetes</a:t>
            </a:r>
            <a:r>
              <a:rPr lang="es-CL" sz="1100" i="1" noProof="0" dirty="0">
                <a:solidFill>
                  <a:srgbClr val="64748B"/>
                </a:solidFill>
              </a:rPr>
              <a:t>. La arquitectura no cambia.</a:t>
            </a:r>
            <a:endParaRPr lang="es-CL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16A34A"/>
                </a:solidFill>
              </a:rPr>
              <a:t>INDICADOR 04</a:t>
            </a:r>
            <a:endParaRPr lang="es-CL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Sostenibilidad a</a:t>
            </a:r>
            <a:endParaRPr lang="es-CL" sz="3800" noProof="0" dirty="0"/>
          </a:p>
          <a:p>
            <a:pPr marL="0" indent="0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Largo Plazo</a:t>
            </a:r>
            <a:endParaRPr lang="es-CL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rgbClr val="BBF7D0"/>
                </a:solidFill>
              </a:rPr>
              <a:t>Impactos técnicos, operativos y ambientales de la arquitectura propuesta</a:t>
            </a:r>
            <a:endParaRPr lang="es-CL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651760" cy="1828800"/>
          </a:xfrm>
          <a:prstGeom prst="rect">
            <a:avLst/>
          </a:prstGeom>
          <a:solidFill>
            <a:srgbClr val="16A34A">
              <a:alpha val="1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16A34A"/>
                </a:solidFill>
              </a:rPr>
              <a:t>Técnica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FFFFFF"/>
                </a:solidFill>
              </a:rPr>
              <a:t>Hexagonal: reemplazar componentes sin tocar el negocio</a:t>
            </a:r>
            <a:endParaRPr lang="es-CL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3246120" y="2926080"/>
            <a:ext cx="2651760" cy="18288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324612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0D9488"/>
                </a:solidFill>
              </a:rPr>
              <a:t>Operativa</a:t>
            </a:r>
            <a:endParaRPr lang="es-C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3246120" y="3474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200" noProof="0" dirty="0" err="1">
                <a:solidFill>
                  <a:srgbClr val="FFFFFF"/>
                </a:solidFill>
              </a:rPr>
              <a:t>Kubernetes</a:t>
            </a:r>
            <a:r>
              <a:rPr lang="es-CL" sz="1200" noProof="0" dirty="0">
                <a:solidFill>
                  <a:srgbClr val="FFFFFF"/>
                </a:solidFill>
              </a:rPr>
              <a:t> escala si crecen pacientes o centros</a:t>
            </a:r>
            <a:endParaRPr lang="es-CL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2971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600" b="1" noProof="0" dirty="0">
                <a:solidFill>
                  <a:srgbClr val="F59E0B"/>
                </a:solidFill>
              </a:rPr>
              <a:t>Ambiental</a:t>
            </a:r>
            <a:endParaRPr lang="es-CL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3474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CL" sz="1200" noProof="0" dirty="0">
                <a:solidFill>
                  <a:srgbClr val="FFFFFF"/>
                </a:solidFill>
              </a:rPr>
              <a:t>Cero papel, menos viajes, servidores optimizados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Impacto en el entorno: antes vs después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ANTES</a:t>
            </a:r>
            <a:endParaRPr lang="es-CL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Planillas impresas, gestión manual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Pacientes viajan al hospital a preguntar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Servidores al 100% siempre encendidos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Duplicidad de registros entre centros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Horas médicas perdidas por cancelaciones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7F1D1D"/>
                </a:solidFill>
              </a:rPr>
              <a:t>Sistema no puede crecer con nuevos centros</a:t>
            </a:r>
            <a:endParaRPr lang="es-CL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DESPUÉS</a:t>
            </a:r>
            <a:endParaRPr lang="es-CL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14532D"/>
                </a:solidFill>
              </a:rPr>
              <a:t>Todo digital, portal web + notificaciones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14532D"/>
                </a:solidFill>
              </a:rPr>
              <a:t>Pacientes consultan desde su celular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 err="1">
                <a:solidFill>
                  <a:srgbClr val="14532D"/>
                </a:solidFill>
              </a:rPr>
              <a:t>Kubernetes</a:t>
            </a:r>
            <a:r>
              <a:rPr lang="es-CL" sz="1200" noProof="0" dirty="0">
                <a:solidFill>
                  <a:srgbClr val="14532D"/>
                </a:solidFill>
              </a:rPr>
              <a:t> escala solo cuando hay demanda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14532D"/>
                </a:solidFill>
              </a:rPr>
              <a:t>Registro único centralizado, sin duplicidad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14532D"/>
                </a:solidFill>
              </a:rPr>
              <a:t>Reasignación automática en menos de 30s</a:t>
            </a:r>
            <a:endParaRPr lang="es-CL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s-CL" sz="1200" noProof="0" dirty="0">
                <a:solidFill>
                  <a:srgbClr val="14532D"/>
                </a:solidFill>
              </a:rPr>
              <a:t>Escala horizontalmente a nuevas regiones</a:t>
            </a:r>
            <a:endParaRPr lang="es-CL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4526280" y="914400"/>
            <a:ext cx="0" cy="393192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315968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0D9488"/>
                </a:solidFill>
              </a:rPr>
              <a:t>→</a:t>
            </a:r>
            <a:endParaRPr lang="es-CL" sz="2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kern="0" spc="300" noProof="0" dirty="0">
                <a:solidFill>
                  <a:srgbClr val="F43F5E"/>
                </a:solidFill>
              </a:rPr>
              <a:t>INDICADOR 05</a:t>
            </a:r>
            <a:endParaRPr lang="es-CL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Evaluación Ética</a:t>
            </a:r>
            <a:endParaRPr lang="es-CL" sz="3800" noProof="0" dirty="0"/>
          </a:p>
          <a:p>
            <a:pPr marL="0" indent="0">
              <a:buNone/>
            </a:pPr>
            <a:r>
              <a:rPr lang="es-CL" sz="3800" b="1" noProof="0" dirty="0">
                <a:solidFill>
                  <a:srgbClr val="FFFFFF"/>
                </a:solidFill>
              </a:rPr>
              <a:t>y Técnica</a:t>
            </a:r>
            <a:endParaRPr lang="es-CL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600" noProof="0" dirty="0">
                <a:solidFill>
                  <a:srgbClr val="FECDD3"/>
                </a:solidFill>
              </a:rPr>
              <a:t>Responsabilidad, equidad y alineación con las necesidades del cliente</a:t>
            </a:r>
            <a:endParaRPr lang="es-CL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Priorización</a:t>
            </a:r>
            <a:endParaRPr lang="es-CL" sz="1400" noProof="0" dirty="0"/>
          </a:p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justa</a:t>
            </a:r>
            <a:endParaRPr lang="es-CL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2560320" y="301752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2560320" y="3063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Transparencia</a:t>
            </a:r>
            <a:endParaRPr lang="es-CL" sz="1400" noProof="0" dirty="0"/>
          </a:p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algorítmica</a:t>
            </a:r>
            <a:endParaRPr lang="es-CL" sz="14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301752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16A34A">
              <a:alpha val="18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663440" y="3063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Sin sesgo</a:t>
            </a:r>
            <a:endParaRPr lang="es-CL" sz="1400" noProof="0" dirty="0"/>
          </a:p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discriminatorio</a:t>
            </a:r>
            <a:endParaRPr lang="es-CL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6766560" y="3017520"/>
            <a:ext cx="1828800" cy="1737360"/>
          </a:xfrm>
          <a:prstGeom prst="roundRect">
            <a:avLst>
              <a:gd name="adj" fmla="val 6316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6766560" y="3063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Leyes</a:t>
            </a:r>
            <a:endParaRPr lang="es-CL" sz="1400" noProof="0" dirty="0"/>
          </a:p>
          <a:p>
            <a:pPr marL="0" indent="0" algn="ctr">
              <a:buNone/>
            </a:pPr>
            <a:r>
              <a:rPr lang="es-CL" sz="1400" b="1" noProof="0" dirty="0">
                <a:solidFill>
                  <a:srgbClr val="FFFFFF"/>
                </a:solidFill>
              </a:rPr>
              <a:t>chilenas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</a:rPr>
              <a:t>Decisión técnica → impacto ético</a:t>
            </a:r>
            <a:endParaRPr lang="es-CL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4008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438912" y="9875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7C3AED"/>
                </a:solidFill>
              </a:rPr>
              <a:t>Factory </a:t>
            </a:r>
            <a:r>
              <a:rPr lang="es-CL" sz="1200" b="1" noProof="0" dirty="0" err="1">
                <a:solidFill>
                  <a:srgbClr val="7C3AED"/>
                </a:solidFill>
              </a:rPr>
              <a:t>Method</a:t>
            </a:r>
            <a:r>
              <a:rPr lang="es-CL" sz="1200" b="1" noProof="0" dirty="0">
                <a:solidFill>
                  <a:srgbClr val="7C3AED"/>
                </a:solidFill>
              </a:rPr>
              <a:t> — criterios fijos</a:t>
            </a:r>
            <a:endParaRPr lang="es-CL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3931920" y="98755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noProof="0" dirty="0">
                <a:solidFill>
                  <a:srgbClr val="64748B"/>
                </a:solidFill>
              </a:rPr>
              <a:t>→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4343400" y="987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Elimina favoritismos. Priorización uniforme para los 42.000 pacientes</a:t>
            </a:r>
            <a:endParaRPr lang="es-CL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64008" cy="6949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438912" y="17922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b="1" noProof="0" dirty="0" err="1">
                <a:solidFill>
                  <a:srgbClr val="F43F5E"/>
                </a:solidFill>
              </a:rPr>
              <a:t>Circuit</a:t>
            </a:r>
            <a:r>
              <a:rPr lang="es-CL" sz="1200" b="1" noProof="0" dirty="0">
                <a:solidFill>
                  <a:srgbClr val="F43F5E"/>
                </a:solidFill>
              </a:rPr>
              <a:t> Breaker — respuesta alternativa</a:t>
            </a:r>
            <a:endParaRPr lang="es-CL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3931920" y="179222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noProof="0" dirty="0">
                <a:solidFill>
                  <a:srgbClr val="64748B"/>
                </a:solidFill>
              </a:rPr>
              <a:t>→</a:t>
            </a:r>
            <a:endParaRPr lang="es-CL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4343400" y="17922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Ningún paciente pierde su turno por falla técnica de sistemas externos</a:t>
            </a:r>
            <a:endParaRPr lang="es-CL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64008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438912" y="25968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0D9488"/>
                </a:solidFill>
              </a:rPr>
              <a:t>Portal web + derechos ARCO</a:t>
            </a:r>
            <a:endParaRPr lang="es-CL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3931920" y="259689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noProof="0" dirty="0">
                <a:solidFill>
                  <a:srgbClr val="64748B"/>
                </a:solidFill>
              </a:rPr>
              <a:t>→</a:t>
            </a:r>
            <a:endParaRPr lang="es-CL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343400" y="25968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Cumple Ley 20.584. El paciente conoce y controla su información</a:t>
            </a:r>
            <a:endParaRPr lang="es-CL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274320" y="3328416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438912" y="34015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59E0B"/>
                </a:solidFill>
              </a:rPr>
              <a:t>Log inmutable de auditoría 5 años</a:t>
            </a:r>
            <a:endParaRPr lang="es-CL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3931920" y="340156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noProof="0" dirty="0">
                <a:solidFill>
                  <a:srgbClr val="64748B"/>
                </a:solidFill>
              </a:rPr>
              <a:t>→</a:t>
            </a:r>
            <a:endParaRPr lang="es-C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Transparencia y rendición de cuentas pública ante la autoridad sanitaria</a:t>
            </a:r>
            <a:endParaRPr lang="es-CL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274320" y="4133088"/>
            <a:ext cx="85953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64008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/>
          <p:nvPr/>
        </p:nvSpPr>
        <p:spPr>
          <a:xfrm>
            <a:off x="438912" y="4206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6A34A"/>
                </a:solidFill>
              </a:rPr>
              <a:t>Mínimo privilegio por microservicio</a:t>
            </a:r>
            <a:endParaRPr lang="es-CL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3931920" y="42062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600" noProof="0" dirty="0">
                <a:solidFill>
                  <a:srgbClr val="64748B"/>
                </a:solidFill>
              </a:rPr>
              <a:t>→</a:t>
            </a:r>
            <a:endParaRPr lang="es-CL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4343400" y="4206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0B1F3A"/>
                </a:solidFill>
              </a:rPr>
              <a:t>Cumple Ley 19.628. Datos clínicos solo visibles para quien los necesita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kern="0" spc="200" noProof="0" dirty="0">
                <a:solidFill>
                  <a:srgbClr val="0D9488"/>
                </a:solidFill>
              </a:rPr>
              <a:t>En síntesis</a:t>
            </a:r>
            <a:endParaRPr lang="es-CL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FFFFFF"/>
                </a:solidFill>
              </a:rPr>
              <a:t>Cada patrón resuelve</a:t>
            </a:r>
            <a:endParaRPr lang="es-CL" sz="3400" noProof="0" dirty="0"/>
          </a:p>
          <a:p>
            <a:pPr marL="0" indent="0">
              <a:buNone/>
            </a:pPr>
            <a:r>
              <a:rPr lang="es-CL" sz="3400" b="1" noProof="0" dirty="0">
                <a:solidFill>
                  <a:srgbClr val="FFFFFF"/>
                </a:solidFill>
              </a:rPr>
              <a:t>un problema real de RedNorte</a:t>
            </a:r>
            <a:endParaRPr lang="es-CL" sz="34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Hexagonal + Factory  →  Priorización estandarizada y sistemas intercambiables</a:t>
            </a:r>
            <a:endParaRPr lang="es-CL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8412480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2706624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 err="1">
                <a:solidFill>
                  <a:srgbClr val="FFFFFF"/>
                </a:solidFill>
              </a:rPr>
              <a:t>Event-Driven</a:t>
            </a:r>
            <a:r>
              <a:rPr lang="es-CL" sz="1300" noProof="0" dirty="0">
                <a:solidFill>
                  <a:srgbClr val="FFFFFF"/>
                </a:solidFill>
              </a:rPr>
              <a:t> + Kafka  →  Reasignación de cupos en menos de 30 segundos</a:t>
            </a:r>
            <a:endParaRPr lang="es-CL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3118104"/>
            <a:ext cx="8412480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 err="1">
                <a:solidFill>
                  <a:srgbClr val="FFFFFF"/>
                </a:solidFill>
              </a:rPr>
              <a:t>Circuit</a:t>
            </a:r>
            <a:r>
              <a:rPr lang="es-CL" sz="1300" noProof="0" dirty="0">
                <a:solidFill>
                  <a:srgbClr val="FFFFFF"/>
                </a:solidFill>
              </a:rPr>
              <a:t> Breaker  →  Resiliencia ante caídas de sistemas legados</a:t>
            </a:r>
            <a:endParaRPr lang="es-CL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3630168"/>
            <a:ext cx="8412480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365760" y="373075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Gateway + BFF  →  Transparencia para el 72% sin información</a:t>
            </a:r>
            <a:endParaRPr lang="es-CL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4142232"/>
            <a:ext cx="8412480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365760" y="4242816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FFFFFF"/>
                </a:solidFill>
              </a:rPr>
              <a:t>Docker + </a:t>
            </a:r>
            <a:r>
              <a:rPr lang="es-CL" sz="1300" noProof="0" dirty="0" err="1">
                <a:solidFill>
                  <a:srgbClr val="FFFFFF"/>
                </a:solidFill>
              </a:rPr>
              <a:t>Kubernetes</a:t>
            </a:r>
            <a:r>
              <a:rPr lang="es-CL" sz="1300" noProof="0" dirty="0">
                <a:solidFill>
                  <a:srgbClr val="FFFFFF"/>
                </a:solidFill>
              </a:rPr>
              <a:t>  →  Escalabilidad automática bajo demanda</a:t>
            </a:r>
            <a:endParaRPr lang="es-CL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4654296"/>
            <a:ext cx="8412480" cy="0"/>
          </a:xfrm>
          <a:prstGeom prst="line">
            <a:avLst/>
          </a:prstGeom>
          <a:noFill/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100" noProof="0" dirty="0">
                <a:solidFill>
                  <a:srgbClr val="0D9488"/>
                </a:solidFill>
              </a:rPr>
              <a:t>Cumple Ley 19.628 y Ley 20.584  |  Sostenibilidad técnica, operativa y ambiental</a:t>
            </a:r>
            <a:endParaRPr lang="es-CL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995</Words>
  <Application>Microsoft Office PowerPoint</Application>
  <PresentationFormat>Presentación en pantalla (16:9)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Oral - RedNorte</dc:title>
  <dc:subject>PptxGenJS Presentation</dc:subject>
  <dc:creator>PptxGenJS</dc:creator>
  <cp:lastModifiedBy>Dominique Cofré</cp:lastModifiedBy>
  <cp:revision>6</cp:revision>
  <dcterms:created xsi:type="dcterms:W3CDTF">2026-04-08T15:43:56Z</dcterms:created>
  <dcterms:modified xsi:type="dcterms:W3CDTF">2026-04-08T16:49:59Z</dcterms:modified>
</cp:coreProperties>
</file>